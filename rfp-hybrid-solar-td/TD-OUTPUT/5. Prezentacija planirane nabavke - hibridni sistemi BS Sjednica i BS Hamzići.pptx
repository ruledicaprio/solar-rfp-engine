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60" r:id="rId3"/>
    <p:sldMasterId id="2147483672" r:id="rId4"/>
  </p:sldMasterIdLst>
  <p:notesMasterIdLst>
    <p:notesMasterId r:id="rId11"/>
  </p:notesMasterIdLst>
  <p:handoutMasterIdLst>
    <p:handoutMasterId r:id="rId12"/>
  </p:handoutMasterIdLst>
  <p:sldIdLst>
    <p:sldId id="258" r:id="rId5"/>
    <p:sldId id="295" r:id="rId9"/>
    <p:sldId id="296" r:id="rId8"/>
    <p:sldId id="297" r:id="rId7"/>
    <p:sldId id="298" r:id="rId6"/>
    <p:sldId id="294" r:id="rId10"/>
  </p:sldIdLst>
  <p:sldSz cx="9144000" cy="6858000" type="screen4x3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7E7"/>
    <a:srgbClr val="FF9966"/>
    <a:srgbClr val="CBCBCB"/>
    <a:srgbClr val="FEF9E9"/>
    <a:srgbClr val="FBDF53"/>
    <a:srgbClr val="E678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91" autoAdjust="0"/>
    <p:restoredTop sz="92308" autoAdjust="0"/>
  </p:normalViewPr>
  <p:slideViewPr>
    <p:cSldViewPr>
      <p:cViewPr varScale="1">
        <p:scale>
          <a:sx n="105" d="100"/>
          <a:sy n="105" d="100"/>
        </p:scale>
        <p:origin x="107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D271DE-4C4E-4A7B-A294-0FF8FF74E5C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s-Latn-B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7B157-57C3-416C-9097-31E46C6CCA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90AC96-C121-4789-B751-F0D46E27FCA4}" type="datetimeFigureOut">
              <a:rPr lang="bs-Latn-BA" smtClean="0"/>
              <a:t>24. 7. 2024.</a:t>
            </a:fld>
            <a:endParaRPr lang="bs-Latn-B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C6029-E610-4A8B-8972-31D25537B9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s-Latn-B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D4F40B-8DDC-418C-A1D7-8CB8C1E212E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FDCE5E-6124-45F4-8DFD-F6B340992211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4278269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s-Latn-B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51D7F-AD14-4D31-926B-E4CD7D7A0E83}" type="datetimeFigureOut">
              <a:rPr lang="bs-Latn-BA" smtClean="0"/>
              <a:t>24. 7. 2024.</a:t>
            </a:fld>
            <a:endParaRPr lang="bs-Latn-B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s-Latn-B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s-Latn-B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B0A77F-1AE8-4B19-B822-EC85BDDCEFB5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440169519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3DF25F-4E67-48C4-8695-C1C3F59F9653}" type="slidenum">
              <a:rPr lang="bs-Latn-BA" smtClean="0">
                <a:solidFill>
                  <a:prstClr val="black"/>
                </a:solidFill>
              </a:rPr>
              <a:pPr/>
              <a:t>1</a:t>
            </a:fld>
            <a:endParaRPr lang="bs-Latn-B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9806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Uslovi: min. 2 slična ugovora u 3 godine (LOT 1 ≥10.000 KM, LOT 2 ≥20.000 KM), min. 3 radnika + 1 certificiran serviser, autorizacija proizvođača DEA, ISO 9001/14001. Primopredaja: Komisija na lokaciji do 15 dana od zahtjeva. Rizik: referentni P18-6 standardno ima SHUNT pobudu; tražiti AREP+ ili EBS.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Bez napajanja nema puštanja u rad; izostaje pokrivanje i RR čvorište Sjednica. Oba objekta imaju otežan prilaz, naročito nakon padavina.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Huawei oprema (ICC360, R4875 ×3, S4875G3 ×2, FN moduli ×12, PVDB, kablovi) dolazi od Kupca; spisak u Prilogu I, Tačka 9. Ponuđač može ponuditi jedan ili oba LOT-a.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Procjena je iz RFI 'Autonomno napajanje za BS' (27.04.2026) i ranijih nabavki. Provjeriti LOT 2 prema tržišnoj cijeni agregata sa AREP+/EBS pobudom prije objave.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B0A77F-1AE8-4B19-B822-EC85BDDCEFB5}" type="slidenum">
              <a:rPr lang="bs-Latn-BA" smtClean="0"/>
              <a:t>6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9254704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8131693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5D001A-C995-45FE-BC9D-1BA4E9734F5A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7481002" y="127000"/>
            <a:ext cx="1535998" cy="276999"/>
          </a:xfrm>
          <a:prstGeom prst="rect">
            <a:avLst/>
          </a:prstGeom>
          <a:noFill/>
          <a:ln cmpd="sng">
            <a:noFill/>
          </a:ln>
          <a:extLst>
            <a:ext uri="{91240B29-F687-4F45-9708-019B960494DF}">
              <a14:hiddenLine xmlns:a14="http://schemas.microsoft.com/office/drawing/2010/main" cmpd="sng">
                <a:solidFill>
                  <a:schemeClr val="tx1"/>
                </a:solidFill>
              </a14:hiddenLine>
            </a:ext>
          </a:extLst>
        </p:spPr>
        <p:txBody>
          <a:bodyPr vert="horz" wrap="none" rtlCol="0" anchor="t">
            <a:spAutoFit/>
          </a:bodyPr>
          <a:lstStyle/>
          <a:p>
            <a:pPr marL="0" algn="r" defTabSz="914400" rtl="0" eaLnBrk="1" latinLnBrk="0" hangingPunct="1">
              <a:buNone/>
            </a:pPr>
            <a:r>
              <a:rPr lang="bs-Latn-BA" sz="1200" b="0" i="0" u="none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r>
              <a:rPr lang="bs-Latn-BA" sz="1000" b="0" i="0" u="none">
                <a:solidFill>
                  <a:srgbClr val="000000"/>
                </a:solidFill>
              </a:rPr>
              <a:t>[BH Telecom | </a:t>
            </a:r>
            <a:r>
              <a:rPr lang="bs-Latn-BA" sz="1000" b="1" i="0" u="none">
                <a:solidFill>
                  <a:srgbClr val="000000"/>
                </a:solidFill>
              </a:rPr>
              <a:t>Interno</a:t>
            </a:r>
            <a:r>
              <a:rPr lang="bs-Latn-BA" sz="1000" b="0" i="0" u="none">
                <a:solidFill>
                  <a:srgbClr val="000000"/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45939083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5013531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68913202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441288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4072879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23268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636758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55656767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275833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615007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bs-Latn-BA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7A4AA3-3CC3-46B9-9E00-7B26FBB5E605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2838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B09CF23-C4CB-4099-A0CA-A185563DD4F2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9B03FB-74CA-4E54-AC75-B1AB73A8FD6A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7481002" y="127000"/>
            <a:ext cx="1535998" cy="276999"/>
          </a:xfrm>
          <a:prstGeom prst="rect">
            <a:avLst/>
          </a:prstGeom>
          <a:noFill/>
          <a:ln cmpd="sng">
            <a:noFill/>
          </a:ln>
          <a:extLst>
            <a:ext uri="{91240B29-F687-4F45-9708-019B960494DF}">
              <a14:hiddenLine xmlns:a14="http://schemas.microsoft.com/office/drawing/2010/main" cmpd="sng">
                <a:solidFill>
                  <a:schemeClr val="tx1"/>
                </a:solidFill>
              </a14:hiddenLine>
            </a:ext>
          </a:extLst>
        </p:spPr>
        <p:txBody>
          <a:bodyPr vert="horz" wrap="none" rtlCol="0" anchor="t">
            <a:spAutoFit/>
          </a:bodyPr>
          <a:lstStyle/>
          <a:p>
            <a:pPr marL="0" algn="r" defTabSz="914400" rtl="0" eaLnBrk="1" latinLnBrk="0" hangingPunct="1">
              <a:buNone/>
            </a:pPr>
            <a:r>
              <a:rPr lang="bs-Latn-BA" sz="1200" b="0" i="0" u="none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r>
              <a:rPr lang="bs-Latn-BA" sz="1000" b="0" i="0" u="none">
                <a:solidFill>
                  <a:srgbClr val="000000"/>
                </a:solidFill>
              </a:rPr>
              <a:t>[BH Telecom | </a:t>
            </a:r>
            <a:r>
              <a:rPr lang="bs-Latn-BA" sz="1000" b="1" i="0" u="none">
                <a:solidFill>
                  <a:srgbClr val="000000"/>
                </a:solidFill>
              </a:rPr>
              <a:t>Interno</a:t>
            </a:r>
            <a:r>
              <a:rPr lang="bs-Latn-BA" sz="1000" b="0" i="0" u="none">
                <a:solidFill>
                  <a:srgbClr val="000000"/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429972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1FFBF5-744E-445D-AF0A-99D0B395A002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402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00E5D5-C630-447A-9004-52B11F581D62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7857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3502B5-100F-4973-935D-678809FFE94C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2288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3D3AA7B-A415-4C76-A5E9-7ED6159770CC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78973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66A371-B118-4BEB-8061-26B5C53FB151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830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41526FF-8AD5-443F-BCA6-21A4F7F20AB4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500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bs-Latn-BA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3FD1D3-60C0-472A-9D54-B1C8374AB94C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1472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C325AC-DBB7-47FF-B11F-D91EB8444E93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7155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03B5C7-7A33-4ABA-A19D-25055D810ED4}" type="slidenum">
              <a:rPr lang="bs-Latn-BA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4235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4" descr="toptim14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81600"/>
            <a:ext cx="9144000" cy="170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6411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bs-Latn-BA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bs-Latn-BA"/>
              <a:t>Click to edit Master text styles</a:t>
            </a:r>
          </a:p>
          <a:p>
            <a:pPr lvl="1"/>
            <a:r>
              <a:rPr lang="bs-Latn-BA"/>
              <a:t>Second level</a:t>
            </a:r>
          </a:p>
          <a:p>
            <a:pPr lvl="2"/>
            <a:r>
              <a:rPr lang="bs-Latn-BA"/>
              <a:t>Third level</a:t>
            </a:r>
          </a:p>
          <a:p>
            <a:pPr lvl="3"/>
            <a:r>
              <a:rPr lang="bs-Latn-BA"/>
              <a:t>Fourth level</a:t>
            </a:r>
          </a:p>
          <a:p>
            <a:pPr lvl="4"/>
            <a:r>
              <a:rPr lang="bs-Latn-BA"/>
              <a:t>Fifth level</a:t>
            </a:r>
          </a:p>
        </p:txBody>
      </p:sp>
      <p:sp>
        <p:nvSpPr>
          <p:cNvPr id="2150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2150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bs-Latn-BA">
              <a:solidFill>
                <a:srgbClr val="000000"/>
              </a:solidFill>
            </a:endParaRPr>
          </a:p>
        </p:txBody>
      </p:sp>
      <p:sp>
        <p:nvSpPr>
          <p:cNvPr id="215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51167406-0677-4E5B-AE2C-968B3CE91E2E}" type="slidenum">
              <a:rPr lang="bs-Latn-BA">
                <a:solidFill>
                  <a:srgbClr val="000000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bs-Latn-BA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633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7580" y="2266513"/>
            <a:ext cx="7450769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AUTONOMNI HIBRIDNI SISTEMI NAPAJANJA</a:t>
            </a:r>
          </a:p>
          <a:p>
            <a:pPr algn="ctr"/>
            <a:r>
              <a:rPr lang="bs-Latn-BA" sz="20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BS SJEDNICA (BILEĆA) I BS HAMZIĆI (ČITLUK)</a:t>
            </a:r>
          </a:p>
          <a:p>
            <a:pPr algn="ctr"/>
            <a:r>
              <a:rPr lang="bs-Latn-BA" sz="1200" b="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</a:p>
          <a:p>
            <a:pPr algn="ctr"/>
            <a:r>
              <a:rPr lang="bs-Latn-BA" sz="1600" b="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- prezentacija planirane nabavke (LOT 1 i LOT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445224"/>
            <a:ext cx="4572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bs-Latn-BA" sz="1600" i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Oktobar 2026. godine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1257" y="389568"/>
            <a:ext cx="782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>
                <a:latin typeface="Bookman Old Style" panose="02050604050505020204" pitchFamily="18" charset="0"/>
              </a:rPr>
              <a:t>BH TELECOM d.d. Sarajevo</a:t>
            </a:r>
          </a:p>
          <a:p>
            <a:pPr algn="ctr"/>
            <a:r>
              <a:rPr lang="hr-HR" dirty="0">
                <a:latin typeface="Bookman Old Style" panose="02050604050505020204" pitchFamily="18" charset="0"/>
              </a:rPr>
              <a:t>IZVRŠNA DIREKCIJA ZA TEHNOLOGIJU I RAZVOJ SERVISA</a:t>
            </a:r>
          </a:p>
          <a:p>
            <a:pPr algn="ctr"/>
            <a:r>
              <a:rPr lang="hr-HR" dirty="0">
                <a:latin typeface="Bookman Old Style" panose="02050604050505020204" pitchFamily="18" charset="0"/>
              </a:rPr>
              <a:t>Sektor za energetiku</a:t>
            </a:r>
            <a:endParaRPr lang="bs-Latn-BA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8326621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92608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26"/>
                </a:solidFill>
                <a:latin typeface="Bookman Old Style"/>
              </a:rPr>
              <a:t>Opis investicije i postojeće stanje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60120"/>
            <a:ext cx="49377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200" b="0" i="0">
                <a:solidFill>
                  <a:srgbClr val="262626"/>
                </a:solidFill>
                <a:latin typeface="Bookman Old Style"/>
              </a:rPr>
              <a:t>BS Sjednica (Bileća) i BS Hamzići (Čitluk) nisu priključene na elektroenergetsku mrežu; bez napajanja se ne mogu pustiti u rad.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200" b="0" i="0">
                <a:solidFill>
                  <a:srgbClr val="262626"/>
                </a:solidFill>
                <a:latin typeface="Bookman Old Style"/>
              </a:rPr>
              <a:t>Rješenje je autonomni hibridni sistem na −48 V DC: FN polje, LFP baterije i dizel agregat kao rezerva.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200" b="0" i="0">
                <a:solidFill>
                  <a:srgbClr val="262626"/>
                </a:solidFill>
                <a:latin typeface="Bookman Old Style"/>
              </a:rPr>
              <a:t>Huawei oprema (FN moduli, ICC360, baterije, MTS) je posebna nabavka; ova nabavka obuhvata infrastrukturu i instalaciju.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200" b="0" i="0">
                <a:solidFill>
                  <a:srgbClr val="262626"/>
                </a:solidFill>
                <a:latin typeface="Bookman Old Style"/>
              </a:rPr>
              <a:t>Druga iteracija, nakon lokacije MILNIŠTE_MIKRO (Glamoč).</a:t>
            </a:r>
          </a:p>
        </p:txBody>
      </p:sp>
      <p:pic>
        <p:nvPicPr>
          <p:cNvPr id="4" name="Picture 3" descr="sjedn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44282"/>
            <a:ext cx="1600200" cy="21291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3400869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i="1">
                <a:solidFill>
                  <a:srgbClr val="5F5F5F"/>
                </a:solidFill>
                <a:latin typeface="Bookman Old Style"/>
              </a:rPr>
              <a:t>BS Sjednica</a:t>
            </a:r>
          </a:p>
        </p:txBody>
      </p:sp>
      <p:pic>
        <p:nvPicPr>
          <p:cNvPr id="6" name="Picture 5" descr="hamzic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242060"/>
            <a:ext cx="1600200" cy="2133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78040" y="3403092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 i="1">
                <a:solidFill>
                  <a:srgbClr val="5F5F5F"/>
                </a:solidFill>
                <a:latin typeface="Bookman Old Style"/>
              </a:rPr>
              <a:t>BS Hamzići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023360"/>
          <a:ext cx="8412480" cy="1115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48840"/>
                <a:gridCol w="1051560"/>
                <a:gridCol w="2788920"/>
                <a:gridCol w="24231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Bookman Old Style"/>
                        </a:rPr>
                        <a:t>Lokacija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Bookman Old Style"/>
                        </a:rPr>
                        <a:t>Nadm. visina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Bookman Old Style"/>
                        </a:rPr>
                        <a:t>Postojeće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Bookman Old Style"/>
                        </a:rPr>
                        <a:t>Napomena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BS Sjednica, Bileća (RS)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1076 m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ploča 5,40 × 5,40 m, stub 38 m, kontejner K2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ormar ICC360 uz kontejner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BS Hamzići, Čitluk (FBiH)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493 m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ploča 5,40 × 5,40 m, stub 32 m, kontejner K2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demontaža klime Stulz; makadam ≈800 m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92608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26"/>
                </a:solidFill>
                <a:latin typeface="Bookman Old Style"/>
              </a:rPr>
              <a:t>Tehničko rješenje i predmet nabavke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144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18196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EF8812"/>
                </a:solidFill>
                <a:latin typeface="Bookman Old Style"/>
              </a:rPr>
              <a:t>FN polje</a:t>
            </a:r>
          </a:p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262626"/>
                </a:solidFill>
                <a:latin typeface="Bookman Old Style"/>
              </a:rPr>
              <a:t>12 × 585 Wp
7,02 kWp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9144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87752" y="960120"/>
            <a:ext cx="18196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EF8812"/>
                </a:solidFill>
                <a:latin typeface="Bookman Old Style"/>
              </a:rPr>
              <a:t>Solarni moduli</a:t>
            </a:r>
          </a:p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262626"/>
                </a:solidFill>
                <a:latin typeface="Bookman Old Style"/>
              </a:rPr>
              <a:t>PVDB
2 × S4875G3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9144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36592" y="960120"/>
            <a:ext cx="18196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EF8812"/>
                </a:solidFill>
                <a:latin typeface="Bookman Old Style"/>
              </a:rPr>
              <a:t>Huawei ICC360</a:t>
            </a:r>
          </a:p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262626"/>
                </a:solidFill>
                <a:latin typeface="Bookman Old Style"/>
              </a:rPr>
              <a:t>−48 V DC, SMU
LFP 48,6 kWh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91440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5432" y="960120"/>
            <a:ext cx="18196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EF8812"/>
                </a:solidFill>
                <a:latin typeface="Bookman Old Style"/>
              </a:rPr>
              <a:t>TK oprema</a:t>
            </a:r>
          </a:p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262626"/>
                </a:solidFill>
                <a:latin typeface="Bookman Old Style"/>
              </a:rPr>
              <a:t>≈1,18 kW
nazivno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50008" y="1252728"/>
            <a:ext cx="155448" cy="237744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98848" y="1252728"/>
            <a:ext cx="155448" cy="237744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647688" y="1252728"/>
            <a:ext cx="155448" cy="237744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5532120" y="1856231"/>
            <a:ext cx="237744" cy="219456"/>
          </a:xfrm>
          <a:prstGeom prst="up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63440" y="2103120"/>
            <a:ext cx="1965960" cy="566928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103120"/>
            <a:ext cx="18745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EF8812"/>
                </a:solidFill>
                <a:latin typeface="Bookman Old Style"/>
              </a:rPr>
              <a:t>Rezerva: DEA 18 kVA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→ GRO → 3 × R4875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011680"/>
            <a:ext cx="4160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Očekivano godišnje: </a:t>
            </a:r>
            <a:r>
              <a:rPr sz="1050" b="0" i="0">
                <a:solidFill>
                  <a:srgbClr val="262626"/>
                </a:solidFill>
                <a:latin typeface="Bookman Old Style"/>
              </a:rPr>
              <a:t>solarni udio 75–77 %, agregat ≈270–300 h, gorivo ≈900–990 l (pvsim, 2005–2023).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834640"/>
            <a:ext cx="4114800" cy="2148840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2920" y="2926080"/>
            <a:ext cx="566928" cy="566928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Bookman Old Style"/>
              </a:rPr>
              <a:t>LOT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292608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62626"/>
                </a:solidFill>
                <a:latin typeface="Bookman Old Style"/>
              </a:rPr>
              <a:t>Nosači FN panela — 8 kpl (4 po lokaciji)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84448"/>
            <a:ext cx="37947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zemljani radovi, temeljne trake C30/37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4 nosača × 3 modula, 45°, azimut 225°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hemijski ankeri, uzemljenje nosača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statički proračun — uslov za početak radova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834640"/>
            <a:ext cx="4114800" cy="2148840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00600" y="2926080"/>
            <a:ext cx="566928" cy="566928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Bookman Old Style"/>
              </a:rPr>
              <a:t>LOT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8112" y="292608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62626"/>
                </a:solidFill>
                <a:latin typeface="Bookman Old Style"/>
              </a:rPr>
              <a:t>Agregat i hibridni sistem — 2 kpl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584448"/>
            <a:ext cx="37947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DEA 18 kVA skid u kontejneru, spremnik 500 l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ventilacija, izduv, protupožarna zaštita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GRO, DC razvod −48 V, SPD, uzemljenje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preuzimanje opreme Kupca (Azići), montaža FN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NetEco, puštanje u rad, 72 h proba, obuka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92608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26"/>
                </a:solidFill>
                <a:latin typeface="Bookman Old Style"/>
              </a:rPr>
              <a:t>Predračunska vrijednost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292608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EF8812"/>
                </a:solidFill>
                <a:latin typeface="Bookman Old Style"/>
              </a:rPr>
              <a:t>100.000,00 KM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Bookman Old Style"/>
              </a:rPr>
              <a:t>bez PDV-a, obje lokacije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F5F5F"/>
                </a:solidFill>
                <a:latin typeface="Bookman Old Style"/>
              </a:rPr>
              <a:t>sredstva raspoloživa u 2026.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703320" y="1005840"/>
          <a:ext cx="5074920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"/>
                <a:gridCol w="288036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Bookman Old Style"/>
                        </a:rPr>
                        <a:t>LOT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Bookman Old Style"/>
                        </a:rPr>
                        <a:t>Predmet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Bookman Old Style"/>
                        </a:rPr>
                        <a:t>Iznos (KM)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LOT 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Nosači FN panela, 8 kpl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30.000,00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LOT 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Agregatska postrojenja 18 kVA, 2 kpl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62626"/>
                          </a:solidFill>
                          <a:latin typeface="Bookman Old Style"/>
                        </a:rPr>
                        <a:t>70.000,00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Bookman Old Style"/>
                        </a:rPr>
                        <a:t>UKUPNO</a:t>
                      </a:r>
                    </a:p>
                  </a:txBody>
                  <a:tcPr marL="54864" marR="54864" marT="9144" marB="9144" anchor="ctr">
                    <a:solidFill>
                      <a:srgbClr val="FDF1E4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DF1E4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62626"/>
                          </a:solidFill>
                          <a:latin typeface="Bookman Old Style"/>
                        </a:rPr>
                        <a:t>100.000,00</a:t>
                      </a:r>
                    </a:p>
                  </a:txBody>
                  <a:tcPr marL="54864" marR="54864" marT="9144" marB="9144" anchor="ctr">
                    <a:solidFill>
                      <a:srgbClr val="FDF1E4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9260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5F"/>
                </a:solidFill>
                <a:latin typeface="Bookman Old Style"/>
              </a:rPr>
              <a:t>Izvor: Trogodišnji plan 2025–2027 i Operativni plan 2026, ID TIRS, tačka 14.6.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101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Bookman Old Style"/>
              </a:rPr>
              <a:t>Dinamika ulaganja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333756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1">
                <a:solidFill>
                  <a:srgbClr val="5F5F5F"/>
                </a:solidFill>
                <a:latin typeface="Bookman Old Style"/>
              </a:rPr>
              <a:t>mjeseci: 10–12/2026 i 1–9/2027; radovi u proljeće/ljeto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639312"/>
          <a:ext cx="8412480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2608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Aktivnost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Bookman Old Style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>Odluka Uprave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>Zahtjev za nabavku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>Postupak nabavke i ugovor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>Realizacija (90 dana / LOT)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>Primopredaja i plaćanje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EF8812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Bookman Old Style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92608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62626"/>
                </a:solidFill>
                <a:latin typeface="Bookman Old Style"/>
              </a:rPr>
              <a:t>Postupak nabavke — od objave do ugovora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F8812"/>
                </a:solidFill>
                <a:latin typeface="Bookman Old Style"/>
              </a:rPr>
              <a:t>Postupak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914400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Bookman Old Style"/>
              </a:rPr>
              <a:t>pregovarački postupak sa objavom obavještenja (čl. 10 i 16 Pravilnika)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84124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F8812"/>
                </a:solidFill>
                <a:latin typeface="Bookman Old Style"/>
              </a:rPr>
              <a:t>Kriterij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298448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Bookman Old Style"/>
              </a:rPr>
              <a:t>najniža cijena prihvatljive ponude, za svaki LOT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82495"/>
            <a:ext cx="8412480" cy="365760"/>
          </a:xfrm>
          <a:prstGeom prst="rect">
            <a:avLst/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82495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F8812"/>
                </a:solidFill>
                <a:latin typeface="Bookman Old Style"/>
              </a:rPr>
              <a:t>Rokovi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682495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Bookman Old Style"/>
              </a:rPr>
              <a:t>ponude 20 dana od poziva; realizacija 90 dana od uvođenja u posao, po LOT-u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66543"/>
            <a:ext cx="84124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66543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F8812"/>
                </a:solidFill>
                <a:latin typeface="Bookman Old Style"/>
              </a:rPr>
              <a:t>Plaćanje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066543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Bookman Old Style"/>
              </a:rPr>
              <a:t>100 %, 30 dana od fakture, po završenom LOT-u i primopredaji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50591"/>
            <a:ext cx="8412480" cy="365760"/>
          </a:xfrm>
          <a:prstGeom prst="rect">
            <a:avLst/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50591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F8812"/>
                </a:solidFill>
                <a:latin typeface="Bookman Old Style"/>
              </a:rPr>
              <a:t>Garancija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450591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Bookman Old Style"/>
              </a:rPr>
              <a:t>min. 2 godine + postgarancija 5 godina; kazna 0,1 %/dan, max 10 %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97180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4495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Odluka Uprave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3483864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odobrenje sredstava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322576" y="3136392"/>
            <a:ext cx="173736" cy="201168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32888" y="297180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24328" y="3063240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304495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Zahtjev za nabavku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42616" y="3483864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TD, komisija, 9 ponuđača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489704" y="3136392"/>
            <a:ext cx="173736" cy="201168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00016" y="297180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91456" y="3063240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304495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Objava i poziv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3483864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obavještenje i poziv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656832" y="3136392"/>
            <a:ext cx="173736" cy="201168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67144" y="297180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958584" y="3063240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0064" y="304495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Obilazak lokacija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6872" y="3483864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do 5 dana prije roka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416052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251959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23367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Prijem ponuda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" y="4672583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20 dana; jedan ili oba LOT-a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2322576" y="4325112"/>
            <a:ext cx="173736" cy="201168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32888" y="416052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624328" y="4251959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35808" y="423367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Ocjena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42616" y="4672583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reference, kadrovi, autorizacija DEA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4489704" y="4325112"/>
            <a:ext cx="173736" cy="201168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700016" y="416052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91456" y="4251959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02936" y="423367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Pregovori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9744" y="4672583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cijena; konačne ponude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6656832" y="4325112"/>
            <a:ext cx="173736" cy="201168"/>
          </a:xfrm>
          <a:prstGeom prst="rightArrow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67144" y="4160520"/>
            <a:ext cx="1920240" cy="1024128"/>
          </a:xfrm>
          <a:prstGeom prst="roundRect">
            <a:avLst>
              <a:gd name="adj" fmla="val 6000"/>
            </a:avLst>
          </a:prstGeom>
          <a:solidFill>
            <a:srgbClr val="FDF1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958584" y="4251959"/>
            <a:ext cx="347472" cy="347472"/>
          </a:xfrm>
          <a:prstGeom prst="ellipse">
            <a:avLst/>
          </a:prstGeom>
          <a:solidFill>
            <a:srgbClr val="EF8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Bookman Old Style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70064" y="4233672"/>
            <a:ext cx="135331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26"/>
                </a:solidFill>
                <a:latin typeface="Bookman Old Style"/>
              </a:rPr>
              <a:t>Izbor i ugovor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76872" y="4672583"/>
            <a:ext cx="1719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Bookman Old Style"/>
              </a:rPr>
              <a:t>po LOT-u; uvođenje ≤15 dana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2636912"/>
            <a:ext cx="8229600" cy="1143000"/>
          </a:xfrm>
        </p:spPr>
        <p:txBody>
          <a:bodyPr/>
          <a:lstStyle/>
          <a:p>
            <a:r>
              <a:rPr lang="hr-HR" dirty="0">
                <a:latin typeface="Bookman Old Style" panose="02050604050505020204" pitchFamily="18" charset="0"/>
              </a:rPr>
              <a:t>HVALA NA PAŽNJI!</a:t>
            </a:r>
            <a:endParaRPr lang="bs-Latn-BA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054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CLASSIFIERTOPTEXTBOX" val="{CLASSIFIER}"/>
  <p:tag name="BJHEADERFOOTERTEXTBOXNAME" val="bjCLSTB-HO-HR-VT-RA-BN-DH"/>
  <p:tag name="BJHEADERFOOTERLABEL" val="TRUE"/>
  <p:tag name="BJHEADERFOOTERTEXTLABEL" val=" [BH Telecom | Interno]"/>
  <p:tag name="BJHEADERFOOTERTEXTMARKING" val=" [BH Telecom | Interno]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CLASSIFIERTOPTEXTBOX" val="{CLASSIFIER}"/>
  <p:tag name="BJHEADERFOOTERTEXTBOXNAME" val="bjCLSTB-HO-HR-VT-RA-BN-DH"/>
  <p:tag name="BJHEADERFOOTERLABEL" val="TRUE"/>
  <p:tag name="BJHEADERFOOTERTEXTLABEL" val=" [BH Telecom | Interno]"/>
  <p:tag name="BJHEADERFOOTERTEXTMARKING" val=" [BH Telecom | Interno]"/>
</p:tagLst>
</file>

<file path=ppt/theme/theme1.xml><?xml version="1.0" encoding="utf-8"?>
<a:theme xmlns:a="http://schemas.openxmlformats.org/drawingml/2006/main" name="templateBHT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FBDF53"/>
      </a:accent1>
      <a:accent2>
        <a:srgbClr val="FF9966"/>
      </a:accent2>
      <a:accent3>
        <a:srgbClr val="FFFFFF"/>
      </a:accent3>
      <a:accent4>
        <a:srgbClr val="000000"/>
      </a:accent4>
      <a:accent5>
        <a:srgbClr val="FDECB3"/>
      </a:accent5>
      <a:accent6>
        <a:srgbClr val="E78A5C"/>
      </a:accent6>
      <a:hlink>
        <a:srgbClr val="CC3300"/>
      </a:hlink>
      <a:folHlink>
        <a:srgbClr val="9966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plate prezentacije BH Telecoma sa novim sloganom">
  <a:themeElements>
    <a:clrScheme name="Template prezentacije BH Telecoma sa novim slogano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Template prezentacije BH Telecoma sa novim sloganom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Template prezentacije BH Telecoma sa novim slogano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prezentacije BH Telecoma sa novim slogano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prezentacije BH Telecoma sa novim slogano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prezentacije BH Telecoma sa novim slogano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prezentacije BH Telecoma sa novim slogano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prezentacije BH Telecoma sa novim slogano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emplate prezentacije BH Telecoma sa novim slogano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emplate prezentacije BH Telecoma sa novim slogano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emplate prezentacije BH Telecoma sa novim slogano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emplate prezentacije BH Telecoma sa novim slogano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emplate prezentacije BH Telecoma sa novim slogano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emplate prezentacije BH Telecoma sa novim slogano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WrappedLabelHistory xmlns:xsi="http://www.w3.org/2001/XMLSchema-instance" xmlns:xsd="http://www.w3.org/2001/XMLSchema" xmlns="http://www.boldonjames.com/2016/02/Classifier/internal/wrappedLabelHistory">
  <Value>PD94bWwgdmVyc2lvbj0iMS4wIiBlbmNvZGluZz0idXMtYXNjaWkiPz48bGFiZWxIaXN0b3J5IHhtbG5zOnhzaT0iaHR0cDovL3d3dy53My5vcmcvMjAwMS9YTUxTY2hlbWEtaW5zdGFuY2UiIHhtbG5zOnhzZD0iaHR0cDovL3d3dy53My5vcmcvMjAwMS9YTUxTY2hlbWEiIHhtbG5zPSJodHRwOi8vd3d3LmJvbGRvbmphbWVzLmNvbS8yMDE2LzAyL0NsYXNzaWZpZXIvaW50ZXJuYWwvbGFiZWxIaXN0b3J5Ij48aXRlbT48c2lzbCBzaXNsVmVyc2lvbj0iMCIgcG9saWN5PSI1ZjkxYmZiMi1hOWMxLTQ1ZDAtODUxNy0wOGIxZjMxNmViMTUiIG9yaWdpbj0idXNlclNlbGVjdGVkIj48ZWxlbWVudCB1aWQ9ImlkX2NsYXNzaWZpY2F0aW9uX2dlbmVyYWxidXNpbmVzcyIgdmFsdWU9IiIgeG1sbnM9Imh0dHA6Ly93d3cuYm9sZG9uamFtZXMuY29tLzIwMDgvMDEvc2llL2ludGVybmFsL2xhYmVsIiAvPjwvc2lzbD48VXNlck5hbWU+VEVMRUNPTVxydXNtaXJzPC9Vc2VyTmFtZT48RGF0ZVRpbWU+MjQuIDcuIDIwMjQuIDEwOjQ4OjQ1PC9EYXRlVGltZT48TGFiZWxTdHJpbmc+SW50ZXJubzwvTGFiZWxTdHJpbmc+PC9pdGVtPjwvbGFiZWxIaXN0b3J5Pg==</Value>
</WrappedLabelHistory>
</file>

<file path=customXml/item2.xml><?xml version="1.0" encoding="utf-8"?>
<sisl xmlns:xsi="http://www.w3.org/2001/XMLSchema-instance" xmlns:xsd="http://www.w3.org/2001/XMLSchema" xmlns="http://www.boldonjames.com/2008/01/sie/internal/label" sislVersion="0" policy="5f91bfb2-a9c1-45d0-8517-08b1f316eb15" origin="userSelected">
  <element uid="id_classification_generalbusiness" value=""/>
</sisl>
</file>

<file path=customXml/itemProps1.xml><?xml version="1.0" encoding="utf-8"?>
<ds:datastoreItem xmlns:ds="http://schemas.openxmlformats.org/officeDocument/2006/customXml" ds:itemID="{DFF362EE-4DC0-4411-AE66-A3074C0DFDF0}">
  <ds:schemaRefs>
    <ds:schemaRef ds:uri="http://www.w3.org/2001/XMLSchema"/>
    <ds:schemaRef ds:uri="http://www.boldonjames.com/2016/02/Classifier/internal/wrappedLabelHistory"/>
  </ds:schemaRefs>
</ds:datastoreItem>
</file>

<file path=customXml/itemProps2.xml><?xml version="1.0" encoding="utf-8"?>
<ds:datastoreItem xmlns:ds="http://schemas.openxmlformats.org/officeDocument/2006/customXml" ds:itemID="{475F0F5E-EF6C-4F20-9E3E-A65FEC6BACC8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1207</TotalTime>
  <Words>527</Words>
  <Application>Microsoft Office PowerPoint</Application>
  <PresentationFormat>On-screen Show (4:3)</PresentationFormat>
  <Paragraphs>133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Bookman Old Style</vt:lpstr>
      <vt:lpstr>Calibri</vt:lpstr>
      <vt:lpstr>Times New Roman</vt:lpstr>
      <vt:lpstr>templateBHT</vt:lpstr>
      <vt:lpstr>Template prezentacije BH Telecoma sa novim sloganom</vt:lpstr>
      <vt:lpstr>PowerPoint Presentation</vt:lpstr>
      <vt:lpstr>PowerPoint Presentation</vt:lpstr>
      <vt:lpstr>PowerPoint Presentation</vt:lpstr>
      <vt:lpstr>PowerPoint Presentation</vt:lpstr>
      <vt:lpstr>Ostali elementi nabavnog zahtjeva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Autonomni hibridni sistemi napajanja BS Sjednica i BS Hamzići</dc:title>
  <dc:creator>Rusmir Skopljak</dc:creator>
  <cp:keywords> [BH Telecom | Interno]</cp:keywords>
  <cp:lastModifiedBy>Rusmir Skopljak</cp:lastModifiedBy>
  <cp:revision>127</cp:revision>
  <dcterms:created xsi:type="dcterms:W3CDTF">2016-05-06T08:53:51Z</dcterms:created>
  <dcterms:modified xsi:type="dcterms:W3CDTF">2024-07-24T10:48:46Z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9beb98e2-76bd-453c-80db-01a5379ea410</vt:lpwstr>
  </property>
  <property fmtid="{D5CDD505-2E9C-101B-9397-08002B2CF9AE}" pid="3" name="bjSaver">
    <vt:lpwstr>PBKzKNjp5eaEU3tBjVgEWI+fS8Y9fUcj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policy="5f91bfb2-a9c1-45d0-8517-08b1f316eb15" origin="userSelected" xmlns="http://www.boldonj</vt:lpwstr>
  </property>
  <property fmtid="{D5CDD505-2E9C-101B-9397-08002B2CF9AE}" pid="5" name="bjDocumentLabelXML-0">
    <vt:lpwstr>ames.com/2008/01/sie/internal/label"&gt;&lt;element uid="id_classification_generalbusiness" value="" /&gt;&lt;/sisl&gt;</vt:lpwstr>
  </property>
  <property fmtid="{D5CDD505-2E9C-101B-9397-08002B2CF9AE}" pid="6" name="bjDocumentSecurityLabel">
    <vt:lpwstr>Interno</vt:lpwstr>
  </property>
  <property fmtid="{D5CDD505-2E9C-101B-9397-08002B2CF9AE}" pid="7" name="bjClsUserRVM">
    <vt:lpwstr>[]</vt:lpwstr>
  </property>
  <property fmtid="{D5CDD505-2E9C-101B-9397-08002B2CF9AE}" pid="8" name="bjLabelHistoryID">
    <vt:lpwstr>{DFF362EE-4DC0-4411-AE66-A3074C0DFDF0}</vt:lpwstr>
  </property>
</Properties>
</file>