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3"/>
    <p:sldMasterId id="2147483672" r:id="rId4"/>
  </p:sldMasterIdLst>
  <p:notesMasterIdLst>
    <p:notesMasterId r:id="rId11"/>
  </p:notesMasterIdLst>
  <p:handoutMasterIdLst>
    <p:handoutMasterId r:id="rId12"/>
  </p:handoutMasterIdLst>
  <p:sldIdLst>
    <p:sldId id="258" r:id="rId5"/>
    <p:sldId id="295" r:id="rId9"/>
    <p:sldId id="296" r:id="rId8"/>
    <p:sldId id="297" r:id="rId7"/>
    <p:sldId id="298" r:id="rId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294" r:id="rId10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  <a:srgbClr val="FF9966"/>
    <a:srgbClr val="CBCBCB"/>
    <a:srgbClr val="FEF9E9"/>
    <a:srgbClr val="FBDF53"/>
    <a:srgbClr val="E67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1" autoAdjust="0"/>
    <p:restoredTop sz="92308" autoAdjust="0"/>
  </p:normalViewPr>
  <p:slideViewPr>
    <p:cSldViewPr>
      <p:cViewPr varScale="1">
        <p:scale>
          <a:sx n="105" d="100"/>
          <a:sy n="105" d="100"/>
        </p:scale>
        <p:origin x="10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5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D271DE-4C4E-4A7B-A294-0FF8FF74E5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7B157-57C3-416C-9097-31E46C6CCA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0AC96-C121-4789-B751-F0D46E27FCA4}" type="datetimeFigureOut">
              <a:rPr lang="bs-Latn-BA" smtClean="0"/>
              <a:t>24. 7. 2024.</a:t>
            </a:fld>
            <a:endParaRPr lang="bs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C6029-E610-4A8B-8972-31D25537B9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4F40B-8DDC-418C-A1D7-8CB8C1E212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DCE5E-6124-45F4-8DFD-F6B340992211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278269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51D7F-AD14-4D31-926B-E4CD7D7A0E83}" type="datetimeFigureOut">
              <a:rPr lang="bs-Latn-BA" smtClean="0"/>
              <a:t>24. 7. 2024.</a:t>
            </a:fld>
            <a:endParaRPr lang="bs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s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s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0A77F-1AE8-4B19-B822-EC85BDDCEFB5}" type="slidenum">
              <a:rPr lang="bs-Latn-BA" smtClean="0"/>
              <a:t>‹#›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44016951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DF25F-4E67-48C4-8695-C1C3F59F9653}" type="slidenum">
              <a:rPr lang="bs-Latn-BA" smtClean="0">
                <a:solidFill>
                  <a:prstClr val="black"/>
                </a:solidFill>
              </a:rPr>
              <a:pPr/>
              <a:t>1</a:t>
            </a:fld>
            <a:endParaRPr lang="bs-Latn-B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980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Orijentacija JZ je odluka Naručioca (11.09.2026); prema jugu bi agregat radio ≈50 h godišnje manje.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Zašto nabavka: lokacije bez EES-a, bez napajanja nema puštanja u rad. Huawei dio je već nabavljen kroz projekte RAN-a; ovdje je infrastruktura.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Oba objekta: otežan prilaz, naročito nakon padavina; obilazak lokacija je dio postupka (Tačka 3 TD).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Huawei oprema (FN moduli, ICC360, ispravljači, solarni moduli, baterije) dolazi od Kupca; ponuđač je ugrađuje i povezuje.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bs-Latn-B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0A77F-1AE8-4B19-B822-EC85BDDCEFB5}" type="slidenum">
              <a:rPr lang="bs-Latn-BA" smtClean="0"/>
              <a:t>6</a:t>
            </a:fld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925470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Agregat u skid izvedbi na roštilju, spremnik 500 l u koritu, usis na SI zidu, izlaz toplog zraka kroz SZ zid.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Isti opis radova za obje lokacije; Prilog II ima zaseban obrazac za svaki LOT, sa listom po lokaciji.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Detaljan spisak: Prilog I, Tačka 9 i završna strana Priloga 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Procjena je iz RFI 'Autonomno napajanje za BS' (27.04.2026) i ranijih nabavki. Provjeriti LOT 2 prema tržišnoj cijeni agregata sa AREP+/EBS pobudom prije objave.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Kao u predlošku prezentacije planirane nabavke; izvor TD Tačke 3, 4, 7 i 8 i Zahtjev za nabavku.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Rokovi iz Zahtjeva za nabavku (tačka 7) i TD Tačka 3 (obilazak). Pregovori se vode samo sa ponuđačima čije su ponude prihvatljive.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Tačke 5 i 6; ovjerene kopije: sud, upravni organ ili notar.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Tačka 3.3–3.4 (rokovi, nadzor, primopredaja) i Tačka 7.2 (viškovi i nepredviđeni radovi).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Referentni FG Wilson P18-6 standardno ima SHUNT pobudu; PMG nije dostupan u klasi 18–20 kVA (Leroy-Somer TAL 040).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31693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D001A-C995-45FE-BC9D-1BA4E9734F5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481002" y="127000"/>
            <a:ext cx="1535998" cy="276999"/>
          </a:xfrm>
          <a:prstGeom prst="rect">
            <a:avLst/>
          </a:prstGeom>
          <a:noFill/>
          <a:ln cmpd="sng">
            <a:noFill/>
          </a:ln>
          <a:extLst>
            <a:ext uri="{91240B29-F687-4F45-9708-019B960494DF}">
              <a14:hiddenLine xmlns:a14="http://schemas.microsoft.com/office/drawing/2010/main" cmpd="sng">
                <a:solidFill>
                  <a:schemeClr val="tx1"/>
                </a:solidFill>
              </a14:hiddenLine>
            </a:ext>
          </a:extLst>
        </p:spPr>
        <p:txBody>
          <a:bodyPr vert="horz" wrap="none" rtlCol="0" anchor="t">
            <a:spAutoFit/>
          </a:bodyPr>
          <a:lstStyle/>
          <a:p>
            <a:pPr marL="0" algn="r" defTabSz="914400" rtl="0" eaLnBrk="1" latinLnBrk="0" hangingPunct="1">
              <a:buNone/>
            </a:pPr>
            <a:r>
              <a:rPr lang="bs-Latn-BA" sz="1200" b="0" i="0" u="none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r>
              <a:rPr lang="bs-Latn-BA" sz="1000" b="0" i="0" u="none">
                <a:solidFill>
                  <a:srgbClr val="000000"/>
                </a:solidFill>
              </a:rPr>
              <a:t>[BH Telecom | </a:t>
            </a:r>
            <a:r>
              <a:rPr lang="bs-Latn-BA" sz="1000" b="1" i="0" u="none">
                <a:solidFill>
                  <a:srgbClr val="000000"/>
                </a:solidFill>
              </a:rPr>
              <a:t>Interno</a:t>
            </a:r>
            <a:r>
              <a:rPr lang="bs-Latn-BA" sz="1000" b="0" i="0" u="none">
                <a:solidFill>
                  <a:srgbClr val="00000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593908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01353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891320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4412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07287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3268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636758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565676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27583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61500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bs-Latn-B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A4AA3-3CC3-46B9-9E00-7B26FBB5E605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283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9CF23-C4CB-4099-A0CA-A185563DD4F2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B03FB-74CA-4E54-AC75-B1AB73A8FD6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7481002" y="127000"/>
            <a:ext cx="1535998" cy="276999"/>
          </a:xfrm>
          <a:prstGeom prst="rect">
            <a:avLst/>
          </a:prstGeom>
          <a:noFill/>
          <a:ln cmpd="sng">
            <a:noFill/>
          </a:ln>
          <a:extLst>
            <a:ext uri="{91240B29-F687-4F45-9708-019B960494DF}">
              <a14:hiddenLine xmlns:a14="http://schemas.microsoft.com/office/drawing/2010/main" cmpd="sng">
                <a:solidFill>
                  <a:schemeClr val="tx1"/>
                </a:solidFill>
              </a14:hiddenLine>
            </a:ext>
          </a:extLst>
        </p:spPr>
        <p:txBody>
          <a:bodyPr vert="horz" wrap="none" rtlCol="0" anchor="t">
            <a:spAutoFit/>
          </a:bodyPr>
          <a:lstStyle/>
          <a:p>
            <a:pPr marL="0" algn="r" defTabSz="914400" rtl="0" eaLnBrk="1" latinLnBrk="0" hangingPunct="1">
              <a:buNone/>
            </a:pPr>
            <a:r>
              <a:rPr lang="bs-Latn-BA" sz="1200" b="0" i="0" u="none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r>
              <a:rPr lang="bs-Latn-BA" sz="1000" b="0" i="0" u="none">
                <a:solidFill>
                  <a:srgbClr val="000000"/>
                </a:solidFill>
              </a:rPr>
              <a:t>[BH Telecom | </a:t>
            </a:r>
            <a:r>
              <a:rPr lang="bs-Latn-BA" sz="1000" b="1" i="0" u="none">
                <a:solidFill>
                  <a:srgbClr val="000000"/>
                </a:solidFill>
              </a:rPr>
              <a:t>Interno</a:t>
            </a:r>
            <a:r>
              <a:rPr lang="bs-Latn-BA" sz="1000" b="0" i="0" u="none">
                <a:solidFill>
                  <a:srgbClr val="00000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42997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FBF5-744E-445D-AF0A-99D0B395A002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40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0E5D5-C630-447A-9004-52B11F581D62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57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502B5-100F-4973-935D-678809FFE94C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228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3AA7B-A415-4C76-A5E9-7ED6159770CC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97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6A371-B118-4BEB-8061-26B5C53FB151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830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526FF-8AD5-443F-BCA6-21A4F7F20AB4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500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bs-Latn-B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FD1D3-60C0-472A-9D54-B1C8374AB94C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47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325AC-DBB7-47FF-B11F-D91EB8444E93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715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s-Latn-B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s-Latn-B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3B5C7-7A33-4ABA-A19D-25055D810ED4}" type="slidenum">
              <a:rPr lang="bs-Latn-BA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4235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4" descr="toptim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81600"/>
            <a:ext cx="9144000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411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bs-Latn-BA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s-Latn-BA"/>
              <a:t>Click to edit Master text styles</a:t>
            </a:r>
          </a:p>
          <a:p>
            <a:pPr lvl="1"/>
            <a:r>
              <a:rPr lang="bs-Latn-BA"/>
              <a:t>Second level</a:t>
            </a:r>
          </a:p>
          <a:p>
            <a:pPr lvl="2"/>
            <a:r>
              <a:rPr lang="bs-Latn-BA"/>
              <a:t>Third level</a:t>
            </a:r>
          </a:p>
          <a:p>
            <a:pPr lvl="3"/>
            <a:r>
              <a:rPr lang="bs-Latn-BA"/>
              <a:t>Fourth level</a:t>
            </a:r>
          </a:p>
          <a:p>
            <a:pPr lvl="4"/>
            <a:r>
              <a:rPr lang="bs-Latn-BA"/>
              <a:t>Fifth level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bs-Latn-BA">
              <a:solidFill>
                <a:srgbClr val="000000"/>
              </a:solidFill>
            </a:endParaRP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167406-0677-4E5B-AE2C-968B3CE91E2E}" type="slidenum">
              <a:rPr lang="bs-Latn-BA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bs-Latn-B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63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0" y="2266513"/>
            <a:ext cx="745076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s-Latn-BA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AUTONOMNI HIBRIDNI SISTEMI NAPAJANJA</a:t>
            </a:r>
          </a:p>
          <a:p>
            <a:pPr algn="ctr"/>
            <a:r>
              <a:rPr lang="bs-Latn-BA" sz="2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BS SJEDNICA (BILEĆA) I BS HAMZIĆI (ČITLUK)</a:t>
            </a:r>
          </a:p>
          <a:p>
            <a:pPr algn="ctr"/>
            <a:r>
              <a:rPr lang="bs-Latn-BA" sz="1200" b="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</a:p>
          <a:p>
            <a:pPr algn="ctr"/>
            <a:r>
              <a:rPr lang="bs-Latn-BA" sz="1600" b="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- prezentacija planirane nabavke (LOT 1 i LOT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445224"/>
            <a:ext cx="4572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s-Latn-BA" sz="1600" i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Oktobar 2026. godine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257" y="389568"/>
            <a:ext cx="782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latin typeface="Bookman Old Style" panose="02050604050505020204" pitchFamily="18" charset="0"/>
              </a:rPr>
              <a:t>BH TELECOM d.d. Sarajevo</a:t>
            </a:r>
          </a:p>
          <a:p>
            <a:pPr algn="ctr"/>
            <a:r>
              <a:rPr lang="hr-HR" dirty="0">
                <a:latin typeface="Bookman Old Style" panose="02050604050505020204" pitchFamily="18" charset="0"/>
              </a:rPr>
              <a:t>IZVRŠNA DIREKCIJA ZA TEHNOLOGIJU I RAZVOJ SERVISA</a:t>
            </a:r>
          </a:p>
          <a:p>
            <a:pPr algn="ctr"/>
            <a:r>
              <a:rPr lang="hr-HR" dirty="0">
                <a:latin typeface="Bookman Old Style" panose="02050604050505020204" pitchFamily="18" charset="0"/>
              </a:rPr>
              <a:t>Sektor za energetiku</a:t>
            </a:r>
            <a:endParaRPr lang="bs-Latn-BA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32662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Opis investicije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25780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Bookman Old Style"/>
              </a:rPr>
              <a:t>BS Sjednica (Bileća) i BS Hamzići (Čitluk) nisu priključene na elektroenergetsku mrežu, niti se priključak očekuje u narednom periodu.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Bookman Old Style"/>
              </a:rPr>
              <a:t>Bez napajanja lokacije se ne mogu pustiti u rad: izostaje pokrivanje šireg područja i planirano RR čvorište Sjednica.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Bookman Old Style"/>
              </a:rPr>
              <a:t>Rješenje je autonomni (off-grid) hibridni sistem na −48 V DC: fotonaponsko polje kao primarni izvor, LFP baterije i automatski dizel agregat kao rezerva.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Bookman Old Style"/>
              </a:rPr>
              <a:t>Huawei oprema (FN moduli, ICC360, baterije, MTS) je posebna nabavka. Ova nabavka obuhvata infrastrukturu i instalaciju, u dva LOT-a.</a:t>
            </a:r>
          </a:p>
          <a:p>
            <a:pPr algn="l" marL="201168" indent="-201168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Bookman Old Style"/>
              </a:rPr>
              <a:t>Druga iteracija ovakvog rješenja, nakon pozitivnog iskustva na lokaciji MILNIŠTE_MIKRO (Glamoč).</a:t>
            </a:r>
          </a:p>
        </p:txBody>
      </p:sp>
      <p:pic>
        <p:nvPicPr>
          <p:cNvPr id="4" name="Picture 3" descr="sjedn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5164"/>
            <a:ext cx="2926080" cy="389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51241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F5F5F"/>
                </a:solidFill>
                <a:latin typeface="Bookman Old Style"/>
              </a:rPr>
              <a:t>BS Sjednica, 1076 m n.v.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Postojeće stanje lokacija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F8812"/>
                </a:solidFill>
                <a:latin typeface="Bookman Old Style"/>
              </a:rPr>
              <a:t>BS SJEDNICA — Bileća (RS)</a:t>
            </a:r>
          </a:p>
        </p:txBody>
      </p:sp>
      <p:pic>
        <p:nvPicPr>
          <p:cNvPr id="5" name="Picture 4" descr="sjedn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4382"/>
            <a:ext cx="1600200" cy="21291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0279" y="1463040"/>
            <a:ext cx="21488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1076 m n.v. · 42,9448° N, 18,3236° E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AB ploča 5,40 × 5,40 m, rešetkasti stub h = 38 m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kontejner K2 3,00 × 2,30 m — prostor za agregat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vanjski ormar Huawei ICC360 uz kontejner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ograda 2,10 m; parcela ≈150 m²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nema priključka na 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96012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0515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F8812"/>
                </a:solidFill>
                <a:latin typeface="Bookman Old Style"/>
              </a:rPr>
              <a:t>BS HAMZIĆI — Čitluk (FBiH)</a:t>
            </a:r>
          </a:p>
        </p:txBody>
      </p:sp>
      <p:pic>
        <p:nvPicPr>
          <p:cNvPr id="9" name="Picture 8" descr="hamzic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42160"/>
            <a:ext cx="1600200" cy="2133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7960" y="1463040"/>
            <a:ext cx="21488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493 m n.v. · 43,2880° N, 17,6248° E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AB ploča 5,40 × 5,40 m, rešetkasti stub h = 32 m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kontejner K2 prazan, klima Stulz WDE80 se demontira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ormari ICC360 i MTS na JZ strani, iza FN polja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makadamski prilaz ≈800 m × 3 m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priključak projektovan 2017. nije izveden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83480"/>
            <a:ext cx="8412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F5F5F"/>
                </a:solidFill>
                <a:latin typeface="Bookman Old Style"/>
              </a:rPr>
              <a:t>Oba objekta imaju otežan prilaz, naročito nakon padavina; obilazak lokacija je dio postupka.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Tehničko rješenje — po lokaciji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EF8812"/>
                </a:solidFill>
                <a:latin typeface="Bookman Old Style"/>
              </a:rPr>
              <a:t>FN polje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12 × iPV585-M2A
7,02 kWp
4 nosača × 3 modula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0515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6040" y="114300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EF8812"/>
                </a:solidFill>
                <a:latin typeface="Bookman Old Style"/>
              </a:rPr>
              <a:t>Solarni moduli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PVDB 500 V DC
2 × S4875G3
4 kW, AFCI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515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14300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EF8812"/>
                </a:solidFill>
                <a:latin typeface="Bookman Old Style"/>
              </a:rPr>
              <a:t>Huawei ICC360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−48 V DC sabirnica
kontroler SMU
LFP 48,6 kWh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0515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143000"/>
            <a:ext cx="1783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EF8812"/>
                </a:solidFill>
                <a:latin typeface="Bookman Old Style"/>
              </a:rPr>
              <a:t>TK oprema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≈1,18 kW nazivno
≈1,33 kW vršno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0008" y="1618488"/>
            <a:ext cx="155448" cy="274320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498848" y="1618488"/>
            <a:ext cx="155448" cy="274320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647688" y="1618488"/>
            <a:ext cx="155448" cy="274320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278892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852928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EF8812"/>
                </a:solidFill>
                <a:latin typeface="Bookman Old Style"/>
              </a:rPr>
              <a:t>Rezerva: DEA 18 kVA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u kontejneru → GRO →
3 × R4875 (AC/DC)</a:t>
            </a:r>
          </a:p>
        </p:txBody>
      </p:sp>
      <p:sp>
        <p:nvSpPr>
          <p:cNvPr id="16" name="Up Arrow 15"/>
          <p:cNvSpPr/>
          <p:nvPr/>
        </p:nvSpPr>
        <p:spPr>
          <a:xfrm>
            <a:off x="5513832" y="2496312"/>
            <a:ext cx="274320" cy="274320"/>
          </a:xfrm>
          <a:prstGeom prst="up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88920"/>
            <a:ext cx="4114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LOT 1 — FN nosači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4 odvojena nosača × 3 modula, položeno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nagib 45°, jugozapad (azimut 225°)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2 temeljne trake po nosaču, C30/37 XC4+XF3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LOT 2 — agregat i instalacije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DEA 18 kVA / 14,4 kW, skid u kontejneru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dvoplašni spremnik 500 l, korito, protupožarna zaštita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novi GRO, DC razvod −48 V, uzemljenje, SPD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06908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Upravljanje (SMU)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start agregata po SoC: DOD 85 %, stop SoC 60 %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ulaz ispravljača ograničen na 9,5 kW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najkraći rad 1 h; alarmi u NetEco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Očekivani energetski bilans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5F5F"/>
                </a:solidFill>
                <a:latin typeface="Bookman Old Style"/>
              </a:rPr>
              <a:t>satna simulacija 2005–2023, pvlib + PVGIS-SARAH3, polje JZ 45°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Bookman Old Style"/>
              </a:rPr>
              <a:t>solarni udio u potrošnji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F8812"/>
                </a:solidFill>
                <a:latin typeface="Bookman Old Style"/>
              </a:rPr>
              <a:t>74,7 %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Sjednica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81328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F8812"/>
                </a:solidFill>
                <a:latin typeface="Bookman Old Style"/>
              </a:rPr>
              <a:t>77,0 %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Hamzići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88720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618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Bookman Old Style"/>
              </a:rPr>
              <a:t>rad agregata godišnje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81328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F8812"/>
                </a:solidFill>
                <a:latin typeface="Bookman Old Style"/>
              </a:rPr>
              <a:t>≈300 h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Sjednica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481328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F8812"/>
                </a:solidFill>
                <a:latin typeface="Bookman Old Style"/>
              </a:rPr>
              <a:t>≈270 h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Hamzići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188720"/>
            <a:ext cx="2651760" cy="11430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618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Bookman Old Style"/>
              </a:rPr>
              <a:t>gorivo godišnje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81328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F8812"/>
                </a:solidFill>
                <a:latin typeface="Bookman Old Style"/>
              </a:rPr>
              <a:t>≈990 l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Sjednica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481328"/>
            <a:ext cx="1234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F8812"/>
                </a:solidFill>
                <a:latin typeface="Bookman Old Style"/>
              </a:rPr>
              <a:t>≈900 l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Hamzići</a:t>
            </a:r>
          </a:p>
        </p:txBody>
      </p:sp>
      <p:pic>
        <p:nvPicPr>
          <p:cNvPr id="16" name="Picture 15" descr="energetski-bilans-sjedn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15688"/>
            <a:ext cx="5120640" cy="27867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2606040"/>
            <a:ext cx="3108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FN proizvodnja ≈9 240 / ≈9 580 kWh/god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u 9 od 10 godina agregat do ≈360 / ≈320 h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spremnik 500 l dopunjava se 2–3 puta godišnje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50" b="0" i="0">
                <a:solidFill>
                  <a:srgbClr val="262626"/>
                </a:solidFill>
                <a:latin typeface="Bookman Old Style"/>
              </a:rPr>
              <a:t>nepokrivena potrošnja: 0</a:t>
            </a:r>
          </a:p>
          <a:p>
            <a:pPr algn="l" marL="164592" indent="-164592">
              <a:spcAft>
                <a:spcPts val="500"/>
              </a:spcAft>
              <a:buFont typeface="Arial"/>
              <a:buChar char="•"/>
            </a:pPr>
            <a:r>
              <a:rPr sz="1050" b="0" i="1">
                <a:solidFill>
                  <a:srgbClr val="5F5F5F"/>
                </a:solidFill>
                <a:latin typeface="Bookman Old Style"/>
              </a:rPr>
              <a:t>vrijednosti su informativne (Prilog I, Tačka 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Raspored opreme — BS Sjednica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5F5F"/>
                </a:solidFill>
                <a:latin typeface="Bookman Old Style"/>
              </a:rPr>
              <a:t>crtež M-01 iz Priloga III; za BS Hamzići crtež H-04</a:t>
            </a:r>
          </a:p>
        </p:txBody>
      </p:sp>
      <p:pic>
        <p:nvPicPr>
          <p:cNvPr id="4" name="Picture 3" descr="m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679" y="1143000"/>
            <a:ext cx="595064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Predmet nabavke — dva LOT-a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5F5F"/>
                </a:solidFill>
                <a:latin typeface="Bookman Old Style"/>
              </a:rPr>
              <a:t>ponuđač može dostaviti ponudu za jedan ili oba LOT-a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Bookman Old Style"/>
              </a:rPr>
              <a:t>LOT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  <a:latin typeface="Bookman Old Style"/>
              </a:rPr>
              <a:t>Nosači FN panela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5F5F"/>
                </a:solidFill>
                <a:latin typeface="Bookman Old Style"/>
              </a:rPr>
              <a:t>8 kpl (4 po lokaciji)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3703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pripremni i zemljani radovi, iskop u stijeni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temeljne trake, podložni beton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isporuka i montaža nosača, hemijski ankeri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uzemljenje nosača na postojeći prsten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statički proračun (vjetar, snijeg) — uslov za početak radova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3444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1371600"/>
            <a:ext cx="685800" cy="685800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Bookman Old Style"/>
              </a:rPr>
              <a:t>LOT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7160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2626"/>
                </a:solidFill>
                <a:latin typeface="Bookman Old Style"/>
              </a:rPr>
              <a:t>Agregat i hibridni sistem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5F5F"/>
                </a:solidFill>
                <a:latin typeface="Bookman Old Style"/>
              </a:rPr>
              <a:t>2 agregatska postrojenja 18 kVA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40280"/>
            <a:ext cx="3703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DEA skid u kontejneru, roštilj, spremnik 500 l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ventilacija, izduv, protupožarna zaštita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GRO, DC razvod −48 V, kablovi, SPD, uzemljenje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preuzimanje opreme Kupca u Azićima, prevoz, montaža FN panela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uvezivanje u NetEco, puštanje u rad, 72 h probni rad, obuka</a:t>
            </a:r>
          </a:p>
          <a:p>
            <a:pPr algn="l" marL="164592" indent="-164592">
              <a:spcAft>
                <a:spcPts val="700"/>
              </a:spcAft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Bookman Old Style"/>
              </a:rPr>
              <a:t>demontaža klime Stulz (Hamzići)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Oprema Kupca — predaje se Ponuđaču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8638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F5F5F"/>
                </a:solidFill>
                <a:latin typeface="Bookman Old Style"/>
              </a:rPr>
              <a:t>Huawei specifikacija isporuke; preuzimanje u skladištu Azići, Sarajevo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0"/>
                <a:gridCol w="128016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Oprema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Po lokaciji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Ukupno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Ormar hibridnog sistema ICC360 (kontroler, razvod 600 A, DC klima)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Ispravljački moduli R4875, 4 kW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Solarni moduli S4875G3, 4 kW, AFCI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FN moduli iPV585-M2A, 585 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FN razdjelna kutija PVDB, AC ulazni modul AIU03, SPD SPM01A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1 + 1 + 1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 + 2 + 2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DC/DC pretvarač 13,5 V / 26,8 V (start. akumulator, 24 V potrošači)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Senzor nivoa goriva, modul agregata, bežični relej, antena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komplet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 kompleta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Kablovi (energetski, FN, signalni) i montažni pribor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komplet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2 kompleta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LFP baterijski moduli (iz druge nabavke Kupca)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prema projektu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1663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F5F5F"/>
                </a:solidFill>
                <a:latin typeface="Bookman Old Style"/>
              </a:rPr>
              <a:t>Ponuđač (LOT 2) preuzima, prevozi, istovara i ugrađuje; od otpremnice do primopredaje za opremu odgovara Ponuđač.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Predračunska vrijednost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3108960" cy="18288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9260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EF8812"/>
                </a:solidFill>
                <a:latin typeface="Bookman Old Style"/>
              </a:rPr>
              <a:t>100.000,00 KM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bez PDV-a, obje lokacije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F5F5F"/>
                </a:solidFill>
                <a:latin typeface="Bookman Old Style"/>
              </a:rPr>
              <a:t>sredstva raspoloživa u 2026.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703320" y="1005840"/>
          <a:ext cx="507492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288036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Bookman Old Style"/>
                        </a:rPr>
                        <a:t>LOT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Bookman Old Style"/>
                        </a:rPr>
                        <a:t>Predmet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Bookman Old Style"/>
                        </a:rPr>
                        <a:t>Iznos (KM)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LOT 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Nosači FN panela, 8 kpl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30.000,00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LOT 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Agregatska postrojenja 18 kVA, 2 kpl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70.000,00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Bookman Old Style"/>
                        </a:rPr>
                        <a:t>UKUPNO</a:t>
                      </a:r>
                    </a:p>
                  </a:txBody>
                  <a:tcPr marL="54864" marR="54864" marT="9144" marB="9144" anchor="ctr">
                    <a:solidFill>
                      <a:srgbClr val="FDF1E4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DF1E4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262626"/>
                          </a:solidFill>
                          <a:latin typeface="Bookman Old Style"/>
                        </a:rPr>
                        <a:t>100.000,00</a:t>
                      </a:r>
                    </a:p>
                  </a:txBody>
                  <a:tcPr marL="54864" marR="54864" marT="9144" marB="9144" anchor="ctr">
                    <a:solidFill>
                      <a:srgbClr val="FDF1E4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5F5F"/>
                </a:solidFill>
                <a:latin typeface="Bookman Old Style"/>
              </a:rPr>
              <a:t>Izvor: Trogodišnji plan 2025–2027 i Operativni plan 2026, ID TIRS, tačka 14.6.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101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Dinamika ulaganja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3375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1">
                <a:solidFill>
                  <a:srgbClr val="5F5F5F"/>
                </a:solidFill>
                <a:latin typeface="Bookman Old Style"/>
              </a:rPr>
              <a:t>mjeseci: 10–12/2026 i 1–9/2027; radovi u proljeće/ljeto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639312"/>
          <a:ext cx="841248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Aktivnost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11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Bookman Old Style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Odluka Uprave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Zahtjev za nabavku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Postupak nabavke i ugovor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Realizacija (90 dana / LOT)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Primopredaja i plaćanje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Bookman Old Style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Ostali elementi nabavnog zahtjeva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8412480" cy="512064"/>
          </a:xfrm>
          <a:prstGeom prst="rect">
            <a:avLst/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Postupak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960120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pregovarački postupak sa objavom obavještenja (čl. 10 i 16 Pravilnika o nabavkama)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4188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4188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Kriterij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4188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najniža cijena prihvatljive ponude, za svaki LOT posebno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48256"/>
            <a:ext cx="8412480" cy="512064"/>
          </a:xfrm>
          <a:prstGeom prst="rect">
            <a:avLst/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48256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Rok za ponude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48256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20 dana od slanja poziva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92324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9232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Rok realizacije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592324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90 dana od uvođenja u posao, za svaki LOT; uvođenje do 15 dana od potpisa ugovora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36391"/>
            <a:ext cx="8412480" cy="512064"/>
          </a:xfrm>
          <a:prstGeom prst="rect">
            <a:avLst/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36391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Plaćanje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136391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100 %, odgođeno 30 dana od ispravne fakture; fakturiše se po završenom LOT-u, uz zapisnik o primopredaji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80459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80459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Garancija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680459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min. 2 godine; postgarantni period min. 5 godina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24527"/>
            <a:ext cx="8412480" cy="512064"/>
          </a:xfrm>
          <a:prstGeom prst="rect">
            <a:avLst/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24527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Ugovorna kazna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24527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0,1 % po danu kašnjenja, 0,5 % po danu za neotklonjene nedostatke; ukupno najviše 10 %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68595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68595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F8812"/>
                </a:solidFill>
                <a:latin typeface="Bookman Old Style"/>
              </a:rPr>
              <a:t>Primopredaja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768595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Komisija Kupca na lokaciji, do 15 dana od zahtjeva; nedostaci se otklanjaju u roku do 15 dana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Tok postupka — od objave do ugovora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09728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Odluka Uprave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odobrenje sredstava 100.000 KM, LOT 1 i 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22576" y="1207008"/>
            <a:ext cx="173736" cy="219456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32888" y="9601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70048" y="109728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61848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Zahtjev za nabavku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07568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TD sa Prilozima I–III, komisija, lista ponuđača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89704" y="1207008"/>
            <a:ext cx="173736" cy="219456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0016" y="9601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37176" y="109728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161848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Objava i poziv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207568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obavještenje + poziv za 9 potencijalnih ponuđača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56832" y="1207008"/>
            <a:ext cx="173736" cy="219456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67144" y="9601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04304" y="109728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161848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Obilazak lokacija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07568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prijava do 15 dana, obilazak do 5 dana prije roka; Direkcija Mostar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15468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329184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1304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Prijem ponuda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7024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20 dana od poziva; ponuda za jedan ili oba LOT-a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322576" y="3401568"/>
            <a:ext cx="173736" cy="219456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32888" y="315468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70048" y="329184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0048" y="381304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Ocjena ponuda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427024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kvalifikacija, tehnička prihvatljivost, cijena po LOT-u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489704" y="3401568"/>
            <a:ext cx="173736" cy="219456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0016" y="315468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37176" y="329184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7176" y="381304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Pregovori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6" y="427024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o cijeni sa prihvatljivim ponuđačima; konačne ponude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656832" y="3401568"/>
            <a:ext cx="173736" cy="219456"/>
          </a:xfrm>
          <a:prstGeom prst="rightArrow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67144" y="315468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04304" y="3291840"/>
            <a:ext cx="438912" cy="43891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4304" y="381304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Izbor i ugovor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4304" y="427024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odluka o izboru po LOT-u, potpis, uvođenje u posao do 15 dana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Uslovi za ponuđače i dokazi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4114800" cy="20574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1124712"/>
            <a:ext cx="384048" cy="384048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124712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Bookman Old Style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3703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min. 2 ista ili slična ugovora u zadnje 3 godine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LOT 1: zbirno ≥ 10.000 KM — FN nosači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LOT 2: zbirno ≥ 20.000 KM — agregatska postrojenja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za oba LOT-a dokazuje se svaki posebno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960120"/>
            <a:ext cx="4114800" cy="20574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28032" y="1124712"/>
            <a:ext cx="384048" cy="384048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124712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Bookman Old Style"/>
              </a:rPr>
              <a:t>Kadrovi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18488"/>
            <a:ext cx="3703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min. 3 radnika elektro ili mašinske struke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min. 1 serviser certificiran od proizvođača nuđenog agregata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lista osiguranika i izjava za trajanje ugovora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54680"/>
            <a:ext cx="4114800" cy="20574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0352" y="3319272"/>
            <a:ext cx="384048" cy="384048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Bookman Old Style"/>
              </a:rPr>
              <a:t>Agregat (LOT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3703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autorizacija proizvođača ili ovlaštenog distributera za BiH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ISO 9001 i ISO 14001 proizvođača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elektro sheme DEA, nacrti spremnika i roštilja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154680"/>
            <a:ext cx="4114800" cy="20574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28032" y="3319272"/>
            <a:ext cx="384048" cy="384048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319272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Bookman Old Style"/>
              </a:rPr>
              <a:t>Nosači (LOT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13048"/>
            <a:ext cx="3703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statički proračun nosača za odabrane FN panele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katalog sa označenim dijelovima i materijalom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Obrazac za cijenu (Prilog II) za svaki LOT, sve stavke popunjene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Nakon ugovora — realizacija i primopredaja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517904"/>
            <a:ext cx="7772400" cy="54864"/>
          </a:xfrm>
          <a:prstGeom prst="rect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234440"/>
            <a:ext cx="621792" cy="62179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Uvođenje u posao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16276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do 15 dana od potpisa; predaja gradilišta, građevinski dnevnik</a:t>
            </a:r>
          </a:p>
        </p:txBody>
      </p:sp>
      <p:sp>
        <p:nvSpPr>
          <p:cNvPr id="7" name="Oval 6"/>
          <p:cNvSpPr/>
          <p:nvPr/>
        </p:nvSpPr>
        <p:spPr>
          <a:xfrm>
            <a:off x="2569464" y="1234440"/>
            <a:ext cx="621792" cy="62179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544" y="20116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Statički proračun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4" y="2560320"/>
            <a:ext cx="16276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ovjeren proračun nosača i poda kontejnera — uslov za početak radova</a:t>
            </a:r>
          </a:p>
        </p:txBody>
      </p:sp>
      <p:sp>
        <p:nvSpPr>
          <p:cNvPr id="10" name="Oval 9"/>
          <p:cNvSpPr/>
          <p:nvPr/>
        </p:nvSpPr>
        <p:spPr>
          <a:xfrm>
            <a:off x="4270248" y="1234440"/>
            <a:ext cx="621792" cy="62179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0116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Izvođenje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560320"/>
            <a:ext cx="16276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LOT 1 temelji i nosači; LOT 2 agregat, instalacije, montaža FN panela</a:t>
            </a:r>
          </a:p>
        </p:txBody>
      </p:sp>
      <p:sp>
        <p:nvSpPr>
          <p:cNvPr id="13" name="Oval 12"/>
          <p:cNvSpPr/>
          <p:nvPr/>
        </p:nvSpPr>
        <p:spPr>
          <a:xfrm>
            <a:off x="5971032" y="1234440"/>
            <a:ext cx="621792" cy="62179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0116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Ispitivanja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560320"/>
            <a:ext cx="16276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nalaz uzemljenja, FAT agregata, 72 h probni rad, obuka osoblja</a:t>
            </a:r>
          </a:p>
        </p:txBody>
      </p:sp>
      <p:sp>
        <p:nvSpPr>
          <p:cNvPr id="16" name="Oval 15"/>
          <p:cNvSpPr/>
          <p:nvPr/>
        </p:nvSpPr>
        <p:spPr>
          <a:xfrm>
            <a:off x="7671816" y="1234440"/>
            <a:ext cx="621792" cy="621792"/>
          </a:xfrm>
          <a:prstGeom prst="ellipse">
            <a:avLst/>
          </a:prstGeom>
          <a:solidFill>
            <a:srgbClr val="EF8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Bookman Old Style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201168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Bookman Old Style"/>
              </a:rPr>
              <a:t>Primopredaja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560320"/>
            <a:ext cx="16276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26"/>
                </a:solidFill>
                <a:latin typeface="Bookman Old Style"/>
              </a:rPr>
              <a:t>Komisija na lokaciji do 15 dana; izvedbena dokumentacija; faktura po LOT-u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8412480" cy="12344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22191"/>
            <a:ext cx="8046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Nadzor Kupca: Voditelj projekta i nadzorni organi za građevinsku (LOT 1) te mašinsku i elektro fazu (LOT 2).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Viškovi do 15 % po stavci i 1 % ukupno odobrava nadzor; preko 10 % ukupne vrijednosti ide novi postupak.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100" b="0" i="0">
                <a:solidFill>
                  <a:srgbClr val="262626"/>
                </a:solidFill>
                <a:latin typeface="Bookman Old Style"/>
              </a:rPr>
              <a:t>Kolaudacija: EE napajanje 006-001; agregati klasa 4034 (8 %), ispravljači 3050 (10 %).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7040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26"/>
                </a:solidFill>
                <a:latin typeface="Bookman Old Style"/>
              </a:rPr>
              <a:t>Rizici i mjere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412480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50292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Bookman Old Style"/>
                        </a:rPr>
                        <a:t>Rizik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Bookman Old Style"/>
                        </a:rPr>
                        <a:t>Mjera</a:t>
                      </a:r>
                    </a:p>
                  </a:txBody>
                  <a:tcPr marL="54864" marR="54864" marT="9144" marB="9144" anchor="ctr">
                    <a:solidFill>
                      <a:srgbClr val="EF8812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Pristup lokacijama (1076 m n.v., makadam), zimski uslovi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obavezan obilazak; terenska vozila; radovi u proljeće/ljeto; uvođenje u posao po povoljnim uslovima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Dozvole općine i zakup zemljišta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klauzula o zamjenskoj lokaciji po jediničnim cijenama ili odustajanje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Ispad agregata na lokaciji bez posade (servis jednom godišnje)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pobuda AREP+ ili Stamford EBS (≥3 × In, 10 s); daljinski reset i start/stop preko NetEco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Procjena LOT 2 u odnosu na tržište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prije objave upit ovlaštenom distributeru za agregat sa traženom pobudom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Usklađenost sa Huawei opremom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Bookman Old Style"/>
                        </a:rPr>
                        <a:t>spisak opreme Kupca u TD; zapisnik o preuzimanju sa serijskim brojevima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36912"/>
            <a:ext cx="8229600" cy="1143000"/>
          </a:xfrm>
        </p:spPr>
        <p:txBody>
          <a:bodyPr/>
          <a:lstStyle/>
          <a:p>
            <a:r>
              <a:rPr lang="hr-HR" dirty="0">
                <a:latin typeface="Bookman Old Style" panose="02050604050505020204" pitchFamily="18" charset="0"/>
              </a:rPr>
              <a:t>HVALA NA PAŽNJI!</a:t>
            </a:r>
            <a:endParaRPr lang="bs-Latn-BA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054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CLASSIFIERTOPTEXTBOX" val="{CLASSIFIER}"/>
  <p:tag name="BJHEADERFOOTERTEXTBOXNAME" val="bjCLSTB-HO-HR-VT-RA-BN-DH"/>
  <p:tag name="BJHEADERFOOTERLABEL" val="TRUE"/>
  <p:tag name="BJHEADERFOOTERTEXTLABEL" val=" [BH Telecom | Interno]"/>
  <p:tag name="BJHEADERFOOTERTEXTMARKING" val=" [BH Telecom | Interno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CLASSIFIERTOPTEXTBOX" val="{CLASSIFIER}"/>
  <p:tag name="BJHEADERFOOTERTEXTBOXNAME" val="bjCLSTB-HO-HR-VT-RA-BN-DH"/>
  <p:tag name="BJHEADERFOOTERLABEL" val="TRUE"/>
  <p:tag name="BJHEADERFOOTERTEXTLABEL" val=" [BH Telecom | Interno]"/>
  <p:tag name="BJHEADERFOOTERTEXTMARKING" val=" [BH Telecom | Interno]"/>
</p:tagLst>
</file>

<file path=ppt/theme/theme1.xml><?xml version="1.0" encoding="utf-8"?>
<a:theme xmlns:a="http://schemas.openxmlformats.org/drawingml/2006/main" name="templateBHT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plate prezentacije BH Telecoma sa novim sloganom">
  <a:themeElements>
    <a:clrScheme name="Template prezentacije BH Telecoma sa novim slogan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 prezentacije BH Telecoma sa novim slogano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 prezentacije BH Telecoma sa novim slogano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rezentacije BH Telecoma sa novim slogano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rezentacije BH Telecoma sa novim slogano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rezentacije BH Telecoma sa novim slogano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rezentacije BH Telecoma sa novim slogano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rezentacije BH Telecoma sa novim slogano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prezentacije BH Telecoma sa novim slogano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prezentacije BH Telecoma sa novim slogano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prezentacije BH Telecoma sa novim slogano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prezentacije BH Telecoma sa novim slogano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prezentacije BH Telecoma sa novim slogano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prezentacije BH Telecoma sa novim slogano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I1ZjkxYmZiMi1hOWMxLTQ1ZDAtODUxNy0wOGIxZjMxNmViMTUiIG9yaWdpbj0idXNlclNlbGVjdGVkIj48ZWxlbWVudCB1aWQ9ImlkX2NsYXNzaWZpY2F0aW9uX2dlbmVyYWxidXNpbmVzcyIgdmFsdWU9IiIgeG1sbnM9Imh0dHA6Ly93d3cuYm9sZG9uamFtZXMuY29tLzIwMDgvMDEvc2llL2ludGVybmFsL2xhYmVsIiAvPjwvc2lzbD48VXNlck5hbWU+VEVMRUNPTVxydXNtaXJzPC9Vc2VyTmFtZT48RGF0ZVRpbWU+MjQuIDcuIDIwMjQuIDEwOjQ4OjQ1PC9EYXRlVGltZT48TGFiZWxTdHJpbmc+SW50ZXJubzwvTGFiZWxTdHJpbmc+PC9pdGVtPjwvbGFiZWxIaXN0b3J5Pg==</Value>
</WrappedLabelHistory>
</file>

<file path=customXml/item2.xml><?xml version="1.0" encoding="utf-8"?>
<sisl xmlns:xsi="http://www.w3.org/2001/XMLSchema-instance" xmlns:xsd="http://www.w3.org/2001/XMLSchema" xmlns="http://www.boldonjames.com/2008/01/sie/internal/label" sislVersion="0" policy="5f91bfb2-a9c1-45d0-8517-08b1f316eb15" origin="userSelected">
  <element uid="id_classification_generalbusiness" value=""/>
</sisl>
</file>

<file path=customXml/itemProps1.xml><?xml version="1.0" encoding="utf-8"?>
<ds:datastoreItem xmlns:ds="http://schemas.openxmlformats.org/officeDocument/2006/customXml" ds:itemID="{DFF362EE-4DC0-4411-AE66-A3074C0DFDF0}">
  <ds:schemaRefs>
    <ds:schemaRef ds:uri="http://www.w3.org/2001/XMLSchema"/>
    <ds:schemaRef ds:uri="http://www.boldonjames.com/2016/02/Classifier/internal/wrappedLabelHistory"/>
  </ds:schemaRefs>
</ds:datastoreItem>
</file>

<file path=customXml/itemProps2.xml><?xml version="1.0" encoding="utf-8"?>
<ds:datastoreItem xmlns:ds="http://schemas.openxmlformats.org/officeDocument/2006/customXml" ds:itemID="{475F0F5E-EF6C-4F20-9E3E-A65FEC6BACC8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527</Words>
  <Application>Microsoft Office PowerPoint</Application>
  <PresentationFormat>On-screen Show (4:3)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Calibri</vt:lpstr>
      <vt:lpstr>Times New Roman</vt:lpstr>
      <vt:lpstr>templateBHT</vt:lpstr>
      <vt:lpstr>Template prezentacije BH Telecoma sa novim sloganom</vt:lpstr>
      <vt:lpstr>PowerPoint Presentation</vt:lpstr>
      <vt:lpstr>PowerPoint Presentation</vt:lpstr>
      <vt:lpstr>PowerPoint Presentation</vt:lpstr>
      <vt:lpstr>PowerPoint Presentation</vt:lpstr>
      <vt:lpstr>Ostali elementi nabavnog zahtjeva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Autonomni hibridni sistemi napajanja BS Sjednica i BS Hamzići</dc:title>
  <dc:creator>Rusmir Skopljak</dc:creator>
  <cp:keywords> [BH Telecom | Interno]</cp:keywords>
  <cp:lastModifiedBy>Rusmir Skopljak</cp:lastModifiedBy>
  <cp:revision>127</cp:revision>
  <dcterms:created xsi:type="dcterms:W3CDTF">2016-05-06T08:53:51Z</dcterms:created>
  <dcterms:modified xsi:type="dcterms:W3CDTF">2024-07-24T10:48:46Z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9beb98e2-76bd-453c-80db-01a5379ea410</vt:lpwstr>
  </property>
  <property fmtid="{D5CDD505-2E9C-101B-9397-08002B2CF9AE}" pid="3" name="bjSaver">
    <vt:lpwstr>PBKzKNjp5eaEU3tBjVgEWI+fS8Y9fUcj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policy="5f91bfb2-a9c1-45d0-8517-08b1f316eb15" origin="userSelected" xmlns="http://www.boldonj</vt:lpwstr>
  </property>
  <property fmtid="{D5CDD505-2E9C-101B-9397-08002B2CF9AE}" pid="5" name="bjDocumentLabelXML-0">
    <vt:lpwstr>ames.com/2008/01/sie/internal/label"&gt;&lt;element uid="id_classification_generalbusiness" value="" /&gt;&lt;/sisl&gt;</vt:lpwstr>
  </property>
  <property fmtid="{D5CDD505-2E9C-101B-9397-08002B2CF9AE}" pid="6" name="bjDocumentSecurityLabel">
    <vt:lpwstr>Interno</vt:lpwstr>
  </property>
  <property fmtid="{D5CDD505-2E9C-101B-9397-08002B2CF9AE}" pid="7" name="bjClsUserRVM">
    <vt:lpwstr>[]</vt:lpwstr>
  </property>
  <property fmtid="{D5CDD505-2E9C-101B-9397-08002B2CF9AE}" pid="8" name="bjLabelHistoryID">
    <vt:lpwstr>{DFF362EE-4DC0-4411-AE66-A3074C0DFDF0}</vt:lpwstr>
  </property>
</Properties>
</file>